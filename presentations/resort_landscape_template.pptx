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模板使用说明：所有文字、色块与概念图均可编辑。请替换项目名称、场地资料和图示；概念内容为通用建议，须依据实际场地深化。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模板使用说明：所有文字、色块与概念图均可编辑。请替换项目名称、场地资料和图示；概念内容为通用建议，须依据实际场地深化。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模板使用说明：所有文字、色块与概念图均可编辑。请替换项目名称、场地资料和图示；概念内容为通用建议，须依据实际场地深化。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模板使用说明：所有文字、色块与概念图均可编辑。请替换项目名称、场地资料和图示；概念内容为通用建议，须依据实际场地深化。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模板使用说明：所有文字、色块与概念图均可编辑。请替换项目名称、场地资料和图示；概念内容为通用建议，须依据实际场地深化。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模板使用说明：所有文字、色块与概念图均可编辑。请替换项目名称、场地资料和图示；概念内容为通用建议，须依据实际场地深化。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模板使用说明：所有文字、色块与概念图均可编辑。请替换项目名称、场地资料和图示；概念内容为通用建议，须依据实际场地深化。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模板使用说明：所有文字、色块与概念图均可编辑。请替换项目名称、场地资料和图示；概念内容为通用建议，须依据实际场地深化。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模板使用说明：所有文字、色块与概念图均可编辑。请替换项目名称、场地资料和图示；概念内容为通用建议，须依据实际场地深化。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模板使用说明：所有文字、色块与概念图均可编辑。请替换项目名称、场地资料和图示；概念内容为通用建议，须依据实际场地深化。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A78C63"/>
                </a:solidFill>
                <a:latin typeface="Noto Sans CJK SC"/>
              </a:defRPr>
            </a:pPr>
            <a:r>
              <a:t>S T A Y   I N   N A T U R E     /     LANDSCAPE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800">
                <a:solidFill>
                  <a:srgbClr val="758078"/>
                </a:solidFill>
                <a:latin typeface="Noto Sans CJK SC"/>
              </a:defRPr>
            </a:pPr>
            <a:r>
              <a:t>度假酒店景观概念  ·  项目名称 / 项目地点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A78C63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212080" cy="6419088"/>
          </a:xfrm>
          <a:prstGeom prst="rect">
            <a:avLst/>
          </a:prstGeom>
          <a:solidFill>
            <a:srgbClr val="24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12080" y="0"/>
            <a:ext cx="6986016" cy="6419088"/>
          </a:xfrm>
          <a:prstGeom prst="rect">
            <a:avLst/>
          </a:prstGeom>
          <a:solidFill>
            <a:srgbClr val="E4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80" y="3658880"/>
            <a:ext cx="6986016" cy="2760207"/>
          </a:xfrm>
          <a:prstGeom prst="rect">
            <a:avLst/>
          </a:prstGeom>
          <a:solidFill>
            <a:srgbClr val="C9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49003" y="3466307"/>
            <a:ext cx="5029931" cy="962863"/>
          </a:xfrm>
          <a:prstGeom prst="rect">
            <a:avLst/>
          </a:prstGeom>
          <a:solidFill>
            <a:srgbClr val="A8C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07884" y="1604772"/>
            <a:ext cx="4051889" cy="1925726"/>
          </a:xfrm>
          <a:prstGeom prst="rect">
            <a:avLst/>
          </a:prstGeom>
          <a:solidFill>
            <a:srgbClr val="D9C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98304" y="1412199"/>
            <a:ext cx="4471050" cy="73152"/>
          </a:xfrm>
          <a:prstGeom prst="rect">
            <a:avLst/>
          </a:prstGeom>
          <a:solidFill>
            <a:srgbClr val="24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17465" y="2054108"/>
            <a:ext cx="628741" cy="1219626"/>
          </a:xfrm>
          <a:prstGeom prst="rect">
            <a:avLst/>
          </a:prstGeom>
          <a:solidFill>
            <a:srgbClr val="24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95507" y="2054108"/>
            <a:ext cx="628741" cy="1219626"/>
          </a:xfrm>
          <a:prstGeom prst="rect">
            <a:avLst/>
          </a:prstGeom>
          <a:solidFill>
            <a:srgbClr val="24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73549" y="2054108"/>
            <a:ext cx="628741" cy="1219626"/>
          </a:xfrm>
          <a:prstGeom prst="rect">
            <a:avLst/>
          </a:prstGeom>
          <a:solidFill>
            <a:srgbClr val="24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51592" y="2054108"/>
            <a:ext cx="628741" cy="1219626"/>
          </a:xfrm>
          <a:prstGeom prst="rect">
            <a:avLst/>
          </a:prstGeom>
          <a:solidFill>
            <a:srgbClr val="24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10681" y="1604772"/>
            <a:ext cx="1536923" cy="1536923"/>
          </a:xfrm>
          <a:prstGeom prst="ellipse">
            <a:avLst/>
          </a:prstGeom>
          <a:solidFill>
            <a:srgbClr val="82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21660" y="3402116"/>
            <a:ext cx="1327343" cy="1327343"/>
          </a:xfrm>
          <a:prstGeom prst="ellipse">
            <a:avLst/>
          </a:prstGeom>
          <a:solidFill>
            <a:srgbClr val="82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00892" y="4044025"/>
            <a:ext cx="1187622" cy="1187622"/>
          </a:xfrm>
          <a:prstGeom prst="ellipse">
            <a:avLst/>
          </a:prstGeom>
          <a:solidFill>
            <a:srgbClr val="82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6035040"/>
            <a:ext cx="6620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243E35"/>
                </a:solidFill>
                <a:latin typeface="Noto Sans CJK SC"/>
              </a:defRPr>
            </a:pPr>
            <a:r>
              <a:t>可替换为项目效果图 / 场地照片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A78C63"/>
                </a:solidFill>
                <a:latin typeface="Noto Sans CJK SC"/>
              </a:defRPr>
            </a:pPr>
            <a:r>
              <a:t>RESORT  /  LANDSCAPE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182880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>
                <a:solidFill>
                  <a:srgbClr val="F5F2EB"/>
                </a:solidFill>
                <a:latin typeface="Noto Serif CJK SC"/>
              </a:defRPr>
            </a:pPr>
            <a:r>
              <a:t>栖于自然</a:t>
            </a:r>
          </a:p>
          <a:p>
            <a:pPr>
              <a:spcAft>
                <a:spcPts val="1000"/>
              </a:spcAft>
              <a:defRPr sz="3600">
                <a:solidFill>
                  <a:srgbClr val="F5F2EB"/>
                </a:solidFill>
                <a:latin typeface="Noto Serif CJK SC"/>
              </a:defRPr>
            </a:pPr>
            <a:r>
              <a:t>慢享假日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8862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2EB"/>
                </a:solidFill>
                <a:latin typeface="Noto Sans CJK SC"/>
              </a:defRPr>
            </a:pPr>
            <a:r>
              <a:t>度假酒店景观概念设计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0749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A78C63"/>
                </a:solidFill>
                <a:latin typeface="Noto Sans CJK SC"/>
              </a:defRPr>
            </a:pPr>
            <a:r>
              <a:t>项目名称  /  项目地点</a:t>
            </a:r>
          </a:p>
          <a:p>
            <a:pPr>
              <a:spcAft>
                <a:spcPts val="1000"/>
              </a:spcAft>
              <a:defRPr sz="1100">
                <a:solidFill>
                  <a:srgbClr val="A78C63"/>
                </a:solidFill>
                <a:latin typeface="Noto Sans CJK SC"/>
              </a:defRPr>
            </a:pPr>
            <a:r>
              <a:t>汇报单位  ·  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A78C63"/>
                </a:solidFill>
                <a:latin typeface="Noto Sans CJK SC"/>
              </a:defRPr>
            </a:pPr>
            <a:r>
              <a:t>S T A Y   I N   N A T U R E     /     LANDSCAPE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263C34"/>
                </a:solidFill>
                <a:latin typeface="Noto Serif CJK SC"/>
              </a:defRPr>
            </a:pPr>
            <a:r>
              <a:t>从场地出发，让景观回应自然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A78C63"/>
                </a:solidFill>
                <a:latin typeface="Noto Sans CJK SC"/>
              </a:defRPr>
            </a:pPr>
            <a:r>
              <a:t>01  /  SITE &amp;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800">
                <a:solidFill>
                  <a:srgbClr val="758078"/>
                </a:solidFill>
                <a:latin typeface="Noto Sans CJK SC"/>
              </a:defRPr>
            </a:pPr>
            <a:r>
              <a:t>度假酒店景观概念  ·  项目名称 / 项目地点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A78C63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5577840" cy="3566160"/>
          </a:xfrm>
          <a:prstGeom prst="rect">
            <a:avLst/>
          </a:prstGeom>
          <a:solidFill>
            <a:srgbClr val="E4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C34"/>
                </a:solidFill>
                <a:latin typeface="Noto Sans CJK SC"/>
              </a:defRPr>
            </a:pPr>
            <a:r>
              <a:t>场地信息 / 分析图占位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114800"/>
            <a:ext cx="1280160" cy="59436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41879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63C34"/>
                </a:solidFill>
                <a:latin typeface="Noto Sans CJK SC"/>
              </a:defRPr>
            </a:pPr>
            <a:r>
              <a:t>周边自然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3291840"/>
            <a:ext cx="1280160" cy="59436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33649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63C34"/>
                </a:solidFill>
                <a:latin typeface="Noto Sans CJK SC"/>
              </a:defRPr>
            </a:pPr>
            <a:r>
              <a:t>酒店主体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4846320"/>
            <a:ext cx="1280160" cy="59436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49194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63C34"/>
                </a:solidFill>
                <a:latin typeface="Noto Sans CJK SC"/>
              </a:defRPr>
            </a:pPr>
            <a:r>
              <a:t>主要入口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774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263C34"/>
                </a:solidFill>
                <a:latin typeface="Noto Sans CJK SC"/>
              </a:defRPr>
            </a:pPr>
            <a:r>
              <a:t>把资源转化为体验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20040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63C34"/>
                </a:solidFill>
                <a:latin typeface="Noto Sans CJK SC"/>
              </a:defRPr>
            </a:pPr>
            <a:r>
              <a:t>01  借景：识别山、水、林等景观资源</a:t>
            </a:r>
          </a:p>
          <a:p>
            <a:pPr>
              <a:spcAft>
                <a:spcPts val="1000"/>
              </a:spcAft>
              <a:defRPr sz="1600">
                <a:solidFill>
                  <a:srgbClr val="263C34"/>
                </a:solidFill>
                <a:latin typeface="Noto Sans CJK SC"/>
              </a:defRPr>
            </a:pPr>
            <a:r>
              <a:t>02  顺势：回应地形、日照与季风</a:t>
            </a:r>
          </a:p>
          <a:p>
            <a:pPr>
              <a:spcAft>
                <a:spcPts val="1000"/>
              </a:spcAft>
              <a:defRPr sz="1600">
                <a:solidFill>
                  <a:srgbClr val="263C34"/>
                </a:solidFill>
                <a:latin typeface="Noto Sans CJK SC"/>
              </a:defRPr>
            </a:pPr>
            <a:r>
              <a:t>03  留白：保留自然肌理与观景界面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577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758078"/>
                </a:solidFill>
                <a:latin typeface="Noto Sans CJK SC"/>
              </a:defRPr>
            </a:pPr>
            <a:r>
              <a:t>待补充：区位 / 面积 / 气候 / 现状条件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A78C63"/>
                </a:solidFill>
                <a:latin typeface="Noto Sans CJK SC"/>
              </a:defRPr>
            </a:pPr>
            <a:r>
              <a:t>S T A Y   I N   N A T U R E     /     LANDSCAPE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263C34"/>
                </a:solidFill>
                <a:latin typeface="Noto Serif CJK SC"/>
              </a:defRPr>
            </a:pPr>
            <a:r>
              <a:t>以舒适为底色，以体验建立记忆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A78C63"/>
                </a:solidFill>
                <a:latin typeface="Noto Sans CJK SC"/>
              </a:defRPr>
            </a:pPr>
            <a:r>
              <a:t>02  /  POSITIONING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800">
                <a:solidFill>
                  <a:srgbClr val="758078"/>
                </a:solidFill>
                <a:latin typeface="Noto Sans CJK SC"/>
              </a:defRPr>
            </a:pPr>
            <a:r>
              <a:t>度假酒店景观概念  ·  项目名称 / 项目地点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A78C63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A78C63"/>
                </a:solidFill>
                <a:latin typeface="Noto Sans CJK SC"/>
              </a:defRPr>
            </a:pPr>
            <a:r>
              <a:t>01 / FAMILY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63C34"/>
                </a:solidFill>
                <a:latin typeface="Noto Sans CJK SC"/>
              </a:defRPr>
            </a:pPr>
            <a:r>
              <a:t>亲子共游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安全可达的活动空间</a:t>
            </a:r>
          </a:p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有遮荫的停留与陪伴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514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A78C63"/>
                </a:solidFill>
                <a:latin typeface="Noto Sans CJK SC"/>
              </a:defRPr>
            </a:pPr>
            <a:r>
              <a:t>02 / COUPLES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971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63C34"/>
                </a:solidFill>
                <a:latin typeface="Noto Sans CJK SC"/>
              </a:defRPr>
            </a:pPr>
            <a:r>
              <a:t>双人慢享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6118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私密休憩与浪漫晚餐</a:t>
            </a:r>
          </a:p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面向自然的安静角落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14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A78C63"/>
                </a:solidFill>
                <a:latin typeface="Noto Sans CJK SC"/>
              </a:defRPr>
            </a:pPr>
            <a:r>
              <a:t>03 / LEISURE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971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63C34"/>
                </a:solidFill>
                <a:latin typeface="Noto Sans CJK SC"/>
              </a:defRPr>
            </a:pPr>
            <a:r>
              <a:t>自在休闲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6118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轻运动、阅读与疗愈</a:t>
            </a:r>
          </a:p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可自由安排的度假节奏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solidFill>
            <a:srgbClr val="24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56869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2EB"/>
                </a:solidFill>
                <a:latin typeface="Noto Sans CJK SC"/>
              </a:defRPr>
            </a:pPr>
            <a:r>
              <a:t>景观定位  /  自然 · 舒适 · 私密 · 轻松社交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A78C63"/>
                </a:solidFill>
                <a:latin typeface="Noto Sans CJK SC"/>
              </a:defRPr>
            </a:pPr>
            <a:r>
              <a:t>S T A Y   I N   N A T U R E     /     LANDSCAPE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F5F2EB"/>
                </a:solidFill>
                <a:latin typeface="Noto Serif CJK SC"/>
              </a:defRPr>
            </a:pPr>
            <a:r>
              <a:t>栖于自然，慢享假日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A78C63"/>
                </a:solidFill>
                <a:latin typeface="Noto Sans CJK SC"/>
              </a:defRPr>
            </a:pPr>
            <a:r>
              <a:t>03  /  CONCEPT &amp;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800">
                <a:solidFill>
                  <a:srgbClr val="758078"/>
                </a:solidFill>
                <a:latin typeface="Noto Sans CJK SC"/>
              </a:defRPr>
            </a:pPr>
            <a:r>
              <a:t>度假酒店景观概念  ·  项目名称 / 项目地点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A78C63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>
                <a:solidFill>
                  <a:srgbClr val="F5F2EB"/>
                </a:solidFill>
                <a:latin typeface="Noto Serif CJK SC"/>
              </a:defRPr>
            </a:pPr>
            <a:r>
              <a:t>让景观成为</a:t>
            </a:r>
          </a:p>
          <a:p>
            <a:pPr>
              <a:spcAft>
                <a:spcPts val="1000"/>
              </a:spcAft>
              <a:defRPr sz="3100">
                <a:solidFill>
                  <a:srgbClr val="F5F2EB"/>
                </a:solidFill>
                <a:latin typeface="Noto Serif CJK SC"/>
              </a:defRPr>
            </a:pPr>
            <a:r>
              <a:t>度假生活的发生地。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F5F2EB"/>
                </a:solidFill>
                <a:latin typeface="Noto Sans CJK SC"/>
              </a:defRPr>
            </a:pPr>
            <a:r>
              <a:t>融入自然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5351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2CBBF"/>
                </a:solidFill>
                <a:latin typeface="Noto Sans CJK SC"/>
              </a:defRPr>
            </a:pPr>
            <a:r>
              <a:t>延续场地肌理，建立自然的空间边界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118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F5F2EB"/>
                </a:solidFill>
                <a:latin typeface="Noto Sans CJK SC"/>
              </a:defRPr>
            </a:pPr>
            <a:r>
              <a:t>放慢节奏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4223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2CBBF"/>
                </a:solidFill>
                <a:latin typeface="Noto Sans CJK SC"/>
              </a:defRPr>
            </a:pPr>
            <a:r>
              <a:t>用舒适尺度，串联可停留的慢行路线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00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F5F2EB"/>
                </a:solidFill>
                <a:latin typeface="Noto Sans CJK SC"/>
              </a:defRPr>
            </a:pPr>
            <a:r>
              <a:t>丰富体验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33095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2CBBF"/>
                </a:solidFill>
                <a:latin typeface="Noto Sans CJK SC"/>
              </a:defRPr>
            </a:pPr>
            <a:r>
              <a:t>以日夜场景，创造多样的度假时刻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A78C63"/>
                </a:solidFill>
                <a:latin typeface="Noto Sans CJK SC"/>
              </a:defRPr>
            </a:pPr>
            <a:r>
              <a:t>S T A Y   I N   N A T U R E     /     LANDSCAPE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263C34"/>
                </a:solidFill>
                <a:latin typeface="Noto Serif CJK SC"/>
              </a:defRPr>
            </a:pPr>
            <a:r>
              <a:t>一条慢行线，串联五种度假场景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A78C63"/>
                </a:solidFill>
                <a:latin typeface="Noto Sans CJK SC"/>
              </a:defRPr>
            </a:pPr>
            <a:r>
              <a:t>04  /  SPATIAL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800">
                <a:solidFill>
                  <a:srgbClr val="758078"/>
                </a:solidFill>
                <a:latin typeface="Noto Sans CJK SC"/>
              </a:defRPr>
            </a:pPr>
            <a:r>
              <a:t>度假酒店景观概念  ·  项目名称 / 项目地点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A78C63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743200"/>
            <a:ext cx="1874519" cy="1920240"/>
          </a:xfrm>
          <a:prstGeom prst="rect">
            <a:avLst/>
          </a:prstGeom>
          <a:solidFill>
            <a:srgbClr val="E4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263C34"/>
                </a:solidFill>
                <a:latin typeface="Noto Sans CJK SC"/>
              </a:defRPr>
            </a:pPr>
            <a:r>
              <a:t>迎宾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758078"/>
                </a:solidFill>
                <a:latin typeface="Noto Sans CJK SC"/>
              </a:defRPr>
            </a:pPr>
            <a:r>
              <a:t>抵达与转换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3611880"/>
            <a:ext cx="411480" cy="22860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1800" y="2743200"/>
            <a:ext cx="1874519" cy="1920240"/>
          </a:xfrm>
          <a:prstGeom prst="rect">
            <a:avLst/>
          </a:prstGeom>
          <a:solidFill>
            <a:srgbClr val="24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3063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F5F2EB"/>
                </a:solidFill>
                <a:latin typeface="Noto Sans CJK SC"/>
              </a:defRPr>
            </a:pPr>
            <a:r>
              <a:t>聚享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886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5F2EB"/>
                </a:solidFill>
                <a:latin typeface="Noto Sans CJK SC"/>
              </a:defRPr>
            </a:pPr>
            <a:r>
              <a:t>泳池与草坪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3611880"/>
            <a:ext cx="411480" cy="22860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57800" y="2743200"/>
            <a:ext cx="1874519" cy="1920240"/>
          </a:xfrm>
          <a:prstGeom prst="rect">
            <a:avLst/>
          </a:prstGeom>
          <a:solidFill>
            <a:srgbClr val="E4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3063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263C34"/>
                </a:solidFill>
                <a:latin typeface="Noto Sans CJK SC"/>
              </a:defRPr>
            </a:pPr>
            <a:r>
              <a:t>乐活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886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758078"/>
                </a:solidFill>
                <a:latin typeface="Noto Sans CJK SC"/>
              </a:defRPr>
            </a:pPr>
            <a:r>
              <a:t>亲子与运动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3611880"/>
            <a:ext cx="411480" cy="22860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43800" y="2743200"/>
            <a:ext cx="1874519" cy="1920240"/>
          </a:xfrm>
          <a:prstGeom prst="rect">
            <a:avLst/>
          </a:prstGeom>
          <a:solidFill>
            <a:srgbClr val="E4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3063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263C34"/>
                </a:solidFill>
                <a:latin typeface="Noto Sans CJK SC"/>
              </a:defRPr>
            </a:pPr>
            <a:r>
              <a:t>静居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3886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758078"/>
                </a:solidFill>
                <a:latin typeface="Noto Sans CJK SC"/>
              </a:defRPr>
            </a:pPr>
            <a:r>
              <a:t>客房与庭院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3611880"/>
            <a:ext cx="411480" cy="22860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29800" y="2743200"/>
            <a:ext cx="1874519" cy="1920240"/>
          </a:xfrm>
          <a:prstGeom prst="rect">
            <a:avLst/>
          </a:prstGeom>
          <a:solidFill>
            <a:srgbClr val="E4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3063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263C34"/>
                </a:solidFill>
                <a:latin typeface="Noto Sans CJK SC"/>
              </a:defRPr>
            </a:pPr>
            <a:r>
              <a:t>漫游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886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758078"/>
                </a:solidFill>
                <a:latin typeface="Noto Sans CJK SC"/>
              </a:defRPr>
            </a:pPr>
            <a:r>
              <a:t>自然与步道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120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C34"/>
                </a:solidFill>
                <a:latin typeface="Noto Sans CJK SC"/>
              </a:defRPr>
            </a:pPr>
            <a:r>
              <a:t>布局原则：动静分区  /  人车分流  /  公共与私密逐层过渡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06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758078"/>
                </a:solidFill>
                <a:latin typeface="Noto Sans CJK SC"/>
              </a:defRPr>
            </a:pPr>
            <a:r>
              <a:t>概念关系示意，后续依据实际场地落实总平面。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A78C63"/>
                </a:solidFill>
                <a:latin typeface="Noto Sans CJK SC"/>
              </a:defRPr>
            </a:pPr>
            <a:r>
              <a:t>S T A Y   I N   N A T U R E     /     LANDSCAPE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263C34"/>
                </a:solidFill>
                <a:latin typeface="Noto Serif CJK SC"/>
              </a:defRPr>
            </a:pPr>
            <a:r>
              <a:t>抵达，即是度假的开始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A78C63"/>
                </a:solidFill>
                <a:latin typeface="Noto Sans CJK SC"/>
              </a:defRPr>
            </a:pPr>
            <a:r>
              <a:t>05  /  ARRIVAL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800">
                <a:solidFill>
                  <a:srgbClr val="758078"/>
                </a:solidFill>
                <a:latin typeface="Noto Sans CJK SC"/>
              </a:defRPr>
            </a:pPr>
            <a:r>
              <a:t>度假酒店景观概念  ·  项目名称 / 项目地点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A78C63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675120" cy="3794760"/>
          </a:xfrm>
          <a:prstGeom prst="rect">
            <a:avLst/>
          </a:prstGeom>
          <a:solidFill>
            <a:srgbClr val="E4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357573"/>
            <a:ext cx="6675120" cy="1631746"/>
          </a:xfrm>
          <a:prstGeom prst="rect">
            <a:avLst/>
          </a:prstGeom>
          <a:solidFill>
            <a:srgbClr val="C9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8606" y="4243730"/>
            <a:ext cx="4806086" cy="569214"/>
          </a:xfrm>
          <a:prstGeom prst="rect">
            <a:avLst/>
          </a:prstGeom>
          <a:solidFill>
            <a:srgbClr val="A8C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42615" y="3143250"/>
            <a:ext cx="3871569" cy="1138428"/>
          </a:xfrm>
          <a:prstGeom prst="rect">
            <a:avLst/>
          </a:prstGeom>
          <a:solidFill>
            <a:srgbClr val="D9CF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42362" y="3029407"/>
            <a:ext cx="4272076" cy="73152"/>
          </a:xfrm>
          <a:prstGeom prst="rect">
            <a:avLst/>
          </a:prstGeom>
          <a:solidFill>
            <a:srgbClr val="24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42869" y="3408883"/>
            <a:ext cx="600760" cy="721004"/>
          </a:xfrm>
          <a:prstGeom prst="rect">
            <a:avLst/>
          </a:prstGeom>
          <a:solidFill>
            <a:srgbClr val="24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77386" y="3408883"/>
            <a:ext cx="600760" cy="721004"/>
          </a:xfrm>
          <a:prstGeom prst="rect">
            <a:avLst/>
          </a:prstGeom>
          <a:solidFill>
            <a:srgbClr val="24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11903" y="3408883"/>
            <a:ext cx="600760" cy="721004"/>
          </a:xfrm>
          <a:prstGeom prst="rect">
            <a:avLst/>
          </a:prstGeom>
          <a:solidFill>
            <a:srgbClr val="24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46420" y="3408883"/>
            <a:ext cx="600760" cy="721004"/>
          </a:xfrm>
          <a:prstGeom prst="rect">
            <a:avLst/>
          </a:prstGeom>
          <a:solidFill>
            <a:srgbClr val="24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07592" y="3143250"/>
            <a:ext cx="1468526" cy="1468526"/>
          </a:xfrm>
          <a:prstGeom prst="ellipse">
            <a:avLst/>
          </a:prstGeom>
          <a:solidFill>
            <a:srgbClr val="82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0333" y="4205782"/>
            <a:ext cx="1268272" cy="1268272"/>
          </a:xfrm>
          <a:prstGeom prst="ellipse">
            <a:avLst/>
          </a:prstGeom>
          <a:solidFill>
            <a:srgbClr val="82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80176" y="4585258"/>
            <a:ext cx="1134770" cy="1134770"/>
          </a:xfrm>
          <a:prstGeom prst="ellipse">
            <a:avLst/>
          </a:prstGeom>
          <a:solidFill>
            <a:srgbClr val="829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605272"/>
            <a:ext cx="6309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243E35"/>
                </a:solidFill>
                <a:latin typeface="Noto Sans CJK SC"/>
              </a:defRPr>
            </a:pPr>
            <a:r>
              <a:t>可替换为项目效果图 / 场地照片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377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63C34"/>
                </a:solidFill>
                <a:latin typeface="Noto Sans CJK SC"/>
              </a:defRPr>
            </a:pPr>
            <a:r>
              <a:t>由喧入静的迎宾序列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33756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3C34"/>
                </a:solidFill>
                <a:latin typeface="Noto Sans CJK SC"/>
              </a:defRPr>
            </a:pPr>
            <a:r>
              <a:t>林荫引导 → 落客庭院 → 大堂借景</a:t>
            </a:r>
          </a:p>
          <a:p>
            <a:pPr>
              <a:spcAft>
                <a:spcPts val="1000"/>
              </a:spcAft>
              <a:defRPr sz="1500">
                <a:solidFill>
                  <a:srgbClr val="263C34"/>
                </a:solidFill>
                <a:latin typeface="Noto Sans CJK SC"/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263C34"/>
                </a:solidFill>
                <a:latin typeface="Noto Sans CJK SC"/>
              </a:defRPr>
            </a:pPr>
            <a:r>
              <a:t>以树阵、水声与材质变化，</a:t>
            </a:r>
          </a:p>
          <a:p>
            <a:pPr>
              <a:spcAft>
                <a:spcPts val="1000"/>
              </a:spcAft>
              <a:defRPr sz="1500">
                <a:solidFill>
                  <a:srgbClr val="263C34"/>
                </a:solidFill>
                <a:latin typeface="Noto Sans CJK SC"/>
              </a:defRPr>
            </a:pPr>
            <a:r>
              <a:t>建立舒缓且清晰的抵达体验。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A78C63"/>
                </a:solidFill>
                <a:latin typeface="Noto Sans CJK SC"/>
              </a:defRPr>
            </a:pPr>
            <a:r>
              <a:t>设计关注：识别性 / 遮荫 / 无障碍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A78C63"/>
                </a:solidFill>
                <a:latin typeface="Noto Sans CJK SC"/>
              </a:defRPr>
            </a:pPr>
            <a:r>
              <a:t>S T A Y   I N   N A T U R E     /     LANDSCAPE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263C34"/>
                </a:solidFill>
                <a:latin typeface="Noto Serif CJK SC"/>
              </a:defRPr>
            </a:pPr>
            <a:r>
              <a:t>在水岸与草坪之间，自在停留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A78C63"/>
                </a:solidFill>
                <a:latin typeface="Noto Sans CJK SC"/>
              </a:defRPr>
            </a:pPr>
            <a:r>
              <a:t>06  /  SOCIAL &amp; LEISURE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800">
                <a:solidFill>
                  <a:srgbClr val="758078"/>
                </a:solidFill>
                <a:latin typeface="Noto Sans CJK SC"/>
              </a:defRPr>
            </a:pPr>
            <a:r>
              <a:t>度假酒店景观概念  ·  项目名称 / 项目地点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A78C63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5257800" cy="2468880"/>
          </a:xfrm>
          <a:prstGeom prst="rect">
            <a:avLst/>
          </a:prstGeom>
          <a:solidFill>
            <a:srgbClr val="A8C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709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>
                <a:solidFill>
                  <a:srgbClr val="263C34"/>
                </a:solidFill>
                <a:latin typeface="Noto Sans CJK SC"/>
              </a:defRPr>
            </a:pPr>
            <a:r>
              <a:t>水畔休闲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63C34"/>
                </a:solidFill>
                <a:latin typeface="Noto Sans CJK SC"/>
              </a:defRPr>
            </a:pPr>
            <a:r>
              <a:t>泳池 · 躺椅 · 遮荫平台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286000"/>
            <a:ext cx="5394960" cy="2468880"/>
          </a:xfrm>
          <a:prstGeom prst="rect">
            <a:avLst/>
          </a:prstGeom>
          <a:solidFill>
            <a:srgbClr val="CAD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>
                <a:solidFill>
                  <a:srgbClr val="263C34"/>
                </a:solidFill>
                <a:latin typeface="Noto Sans CJK SC"/>
              </a:defRPr>
            </a:pPr>
            <a:r>
              <a:t>草坪聚享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63C34"/>
                </a:solidFill>
                <a:latin typeface="Noto Sans CJK SC"/>
              </a:defRPr>
            </a:pPr>
            <a:r>
              <a:t>户外餐饮 · 轻活动 · 日落聚会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63C34"/>
                </a:solidFill>
                <a:latin typeface="Noto Serif CJK SC"/>
              </a:defRPr>
            </a:pPr>
            <a:r>
              <a:t>通过连续的休憩界面，让游泳、用餐与交流自然发生。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A78C63"/>
                </a:solidFill>
                <a:latin typeface="Noto Sans CJK SC"/>
              </a:defRPr>
            </a:pPr>
            <a:r>
              <a:t>S T A Y   I N   N A T U R E     /     LANDSCAPE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263C34"/>
                </a:solidFill>
                <a:latin typeface="Noto Serif CJK SC"/>
              </a:defRPr>
            </a:pPr>
            <a:r>
              <a:t>留一处安静，让人与自然独处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A78C63"/>
                </a:solidFill>
                <a:latin typeface="Noto Sans CJK SC"/>
              </a:defRPr>
            </a:pPr>
            <a:r>
              <a:t>07  /  PRIVATE RETREAT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800">
                <a:solidFill>
                  <a:srgbClr val="758078"/>
                </a:solidFill>
                <a:latin typeface="Noto Sans CJK SC"/>
              </a:defRPr>
            </a:pPr>
            <a:r>
              <a:t>度假酒店景观概念  ·  项目名称 / 项目地点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A78C63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3154680" cy="91440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A78C63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63C34"/>
                </a:solidFill>
                <a:latin typeface="Noto Sans CJK SC"/>
              </a:defRPr>
            </a:pPr>
            <a:r>
              <a:t>庭院静享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以植物、格栅与高差组织视线</a:t>
            </a:r>
          </a:p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在开放景观中保留私密感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2423160"/>
            <a:ext cx="3154680" cy="91440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7432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A78C63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004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63C34"/>
                </a:solidFill>
                <a:latin typeface="Noto Sans CJK SC"/>
              </a:defRPr>
            </a:pPr>
            <a:r>
              <a:t>林间漫步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84048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串联树荫下的轻步行路线</a:t>
            </a:r>
          </a:p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设置可阅读、可停留的节点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423160"/>
            <a:ext cx="3154680" cy="91440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A78C63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2004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63C34"/>
                </a:solidFill>
                <a:latin typeface="Noto Sans CJK SC"/>
              </a:defRPr>
            </a:pPr>
            <a:r>
              <a:t>感官疗愈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4048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让叶影、花香与自然声参与体验</a:t>
            </a:r>
          </a:p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营造低干扰的休憩氛围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A78C63"/>
                </a:solidFill>
                <a:latin typeface="Noto Sans CJK SC"/>
              </a:defRPr>
            </a:pPr>
            <a:r>
              <a:t>S T A Y   I N   N A T U R E     /     LANDSCAPE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263C34"/>
                </a:solidFill>
                <a:latin typeface="Noto Serif CJK SC"/>
              </a:defRPr>
            </a:pPr>
            <a:r>
              <a:t>克制的材料，细腻的感官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A78C63"/>
                </a:solidFill>
                <a:latin typeface="Noto Sans CJK SC"/>
              </a:defRPr>
            </a:pPr>
            <a:r>
              <a:t>08  /  PALETTE &amp; ATMOSPHERE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800">
                <a:solidFill>
                  <a:srgbClr val="758078"/>
                </a:solidFill>
                <a:latin typeface="Noto Sans CJK SC"/>
              </a:defRPr>
            </a:pPr>
            <a:r>
              <a:t>度假酒店景观概念  ·  项目名称 / 项目地点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A78C63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263C34"/>
                </a:solidFill>
                <a:latin typeface="Noto Sans CJK SC"/>
              </a:defRPr>
            </a:pPr>
            <a:r>
              <a:t>植物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适地适树，建立乔灌草层次</a:t>
            </a:r>
          </a:p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重点提供遮荫与季相变化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263C34"/>
                </a:solidFill>
                <a:latin typeface="Noto Sans CJK SC"/>
              </a:defRPr>
            </a:pPr>
            <a:r>
              <a:t>材料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089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自然石材、木质感与细肌理铺装</a:t>
            </a:r>
          </a:p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兼顾防滑、耐候与易维护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263C34"/>
                </a:solidFill>
                <a:latin typeface="Noto Sans CJK SC"/>
              </a:defRPr>
            </a:pPr>
            <a:r>
              <a:t>灯光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暖色、低位、控制眩光</a:t>
            </a:r>
          </a:p>
          <a:p>
            <a:pPr>
              <a:spcAft>
                <a:spcPts val="1000"/>
              </a:spcAft>
              <a:defRPr sz="1400">
                <a:solidFill>
                  <a:srgbClr val="758078"/>
                </a:solidFill>
                <a:latin typeface="Noto Sans CJK SC"/>
              </a:defRPr>
            </a:pPr>
            <a:r>
              <a:t>照亮路径与关键景观节点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92040"/>
            <a:ext cx="1965960" cy="594360"/>
          </a:xfrm>
          <a:prstGeom prst="rect">
            <a:avLst/>
          </a:prstGeom>
          <a:solidFill>
            <a:srgbClr val="24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758078"/>
                </a:solidFill>
                <a:latin typeface="Noto Sans CJK SC"/>
              </a:defRPr>
            </a:pPr>
            <a:r>
              <a:t>深墨绿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99232" y="4892040"/>
            <a:ext cx="1965960" cy="594360"/>
          </a:xfrm>
          <a:prstGeom prst="rect">
            <a:avLst/>
          </a:prstGeom>
          <a:solidFill>
            <a:srgbClr val="C9C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9232" y="55778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758078"/>
                </a:solidFill>
                <a:latin typeface="Noto Sans CJK SC"/>
              </a:defRPr>
            </a:pPr>
            <a:r>
              <a:t>暖石色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66944" y="4892040"/>
            <a:ext cx="1965960" cy="594360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55778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758078"/>
                </a:solidFill>
                <a:latin typeface="Noto Sans CJK SC"/>
              </a:defRPr>
            </a:pPr>
            <a:r>
              <a:t>浅金色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34656" y="4892040"/>
            <a:ext cx="1965960" cy="594360"/>
          </a:xfrm>
          <a:prstGeom prst="rect">
            <a:avLst/>
          </a:prstGeom>
          <a:solidFill>
            <a:srgbClr val="DED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34656" y="55778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758078"/>
                </a:solidFill>
                <a:latin typeface="Noto Sans CJK SC"/>
              </a:defRPr>
            </a:pPr>
            <a:r>
              <a:t>砂岩白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02368" y="4892040"/>
            <a:ext cx="1965960" cy="594360"/>
          </a:xfrm>
          <a:prstGeom prst="rect">
            <a:avLst/>
          </a:prstGeom>
          <a:solidFill>
            <a:srgbClr val="A8C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02368" y="55778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758078"/>
                </a:solidFill>
                <a:latin typeface="Noto Sans CJK SC"/>
              </a:defRPr>
            </a:pPr>
            <a:r>
              <a:t>雾水绿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3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A78C63"/>
                </a:solidFill>
                <a:latin typeface="Noto Sans CJK SC"/>
              </a:defRPr>
            </a:pPr>
            <a:r>
              <a:t>S T A Y   I N   N A T U R E     /     LANDSCAPE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F5F2EB"/>
                </a:solidFill>
                <a:latin typeface="Noto Serif CJK SC"/>
              </a:defRPr>
            </a:pPr>
            <a:r>
              <a:t>让每一次停留，都成为回来的理由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A78C63"/>
                </a:solidFill>
                <a:latin typeface="Noto Sans CJK SC"/>
              </a:defRPr>
            </a:pPr>
            <a:r>
              <a:t>09  /  DESIGN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800">
                <a:solidFill>
                  <a:srgbClr val="758078"/>
                </a:solidFill>
                <a:latin typeface="Noto Sans CJK SC"/>
              </a:defRPr>
            </a:pPr>
            <a:r>
              <a:t>度假酒店景观概念  ·  项目名称 / 项目地点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A78C63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F5F2EB"/>
                </a:solidFill>
                <a:latin typeface="Noto Sans CJK SC"/>
              </a:defRPr>
            </a:pPr>
            <a:r>
              <a:t>有记忆的抵达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2CBBF"/>
                </a:solidFill>
                <a:latin typeface="Noto Sans CJK SC"/>
              </a:defRPr>
            </a:pPr>
            <a:r>
              <a:t>从入口开始建立酒店识别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606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F5F2EB"/>
                </a:solidFill>
                <a:latin typeface="Noto Sans CJK SC"/>
              </a:defRPr>
            </a:pPr>
            <a:r>
              <a:t>有参与的休闲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520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2CBBF"/>
                </a:solidFill>
                <a:latin typeface="Noto Sans CJK SC"/>
              </a:defRPr>
            </a:pPr>
            <a:r>
              <a:t>用场景支持多样度假活动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606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F5F2EB"/>
                </a:solidFill>
                <a:latin typeface="Noto Sans CJK SC"/>
              </a:defRPr>
            </a:pPr>
            <a:r>
              <a:t>有归属的静居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520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C2CBBF"/>
                </a:solidFill>
                <a:latin typeface="Noto Sans CJK SC"/>
              </a:defRPr>
            </a:pPr>
            <a:r>
              <a:t>让自然、舒适与私密相伴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00600"/>
            <a:ext cx="10698480" cy="13716"/>
          </a:xfrm>
          <a:prstGeom prst="rect">
            <a:avLst/>
          </a:prstGeom>
          <a:solidFill>
            <a:srgbClr val="A78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A78C63"/>
                </a:solidFill>
                <a:latin typeface="Noto Serif CJK SC"/>
              </a:defRPr>
            </a:pPr>
            <a:r>
              <a:t>STAY IN NATURE.  LIVE AT 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